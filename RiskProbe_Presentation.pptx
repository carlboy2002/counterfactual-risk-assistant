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3431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 SIPA · SIPA6674 · Spring 2026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118872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240280" y="118872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i="1" dirty="0">
                <a:solidFill>
                  <a:srgbClr val="8B6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Counterfactual Validation for SEC 10-K Filings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828800" cy="36576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694944" cy="256032"/>
          </a:xfrm>
          <a:prstGeom prst="rect">
            <a:avLst/>
          </a:prstGeom>
          <a:solidFill>
            <a:srgbClr val="2A2D36"/>
          </a:solidFill>
          <a:ln w="635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3337560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A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26464" y="3337560"/>
            <a:ext cx="928116" cy="256032"/>
          </a:xfrm>
          <a:prstGeom prst="rect">
            <a:avLst/>
          </a:prstGeom>
          <a:solidFill>
            <a:srgbClr val="2A2D36"/>
          </a:solidFill>
          <a:ln w="635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26464" y="3337560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A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LangChain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46020" y="3337560"/>
            <a:ext cx="850392" cy="256032"/>
          </a:xfrm>
          <a:prstGeom prst="rect">
            <a:avLst/>
          </a:prstGeom>
          <a:solidFill>
            <a:srgbClr val="2A2D36"/>
          </a:solidFill>
          <a:ln w="635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46020" y="3337560"/>
            <a:ext cx="850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A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ChromaDB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87852" y="3337560"/>
            <a:ext cx="1627632" cy="256032"/>
          </a:xfrm>
          <a:prstGeom prst="rect">
            <a:avLst/>
          </a:prstGeom>
          <a:solidFill>
            <a:srgbClr val="2A2D36"/>
          </a:solidFill>
          <a:ln w="635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7852" y="33375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A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GPT-4o-mini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106924" y="3337560"/>
            <a:ext cx="1239012" cy="256032"/>
          </a:xfrm>
          <a:prstGeom prst="rect">
            <a:avLst/>
          </a:prstGeom>
          <a:solidFill>
            <a:srgbClr val="2A2D36"/>
          </a:solidFill>
          <a:ln w="635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106924" y="3337560"/>
            <a:ext cx="12390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A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 EDGAR API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37376" y="3337560"/>
            <a:ext cx="928116" cy="256032"/>
          </a:xfrm>
          <a:prstGeom prst="rect">
            <a:avLst/>
          </a:prstGeom>
          <a:solidFill>
            <a:srgbClr val="2A2D36"/>
          </a:solidFill>
          <a:ln w="6350">
            <a:solidFill>
              <a:srgbClr val="3A3D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37376" y="3337560"/>
            <a:ext cx="9281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A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1720"/>
          </a:solidFill>
          <a:ln w="12700">
            <a:solidFill>
              <a:srgbClr val="1417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AI Tools with Large Language Models</a:t>
            </a:r>
            <a:endParaRPr lang="en-US" sz="9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E1111DE9-7AFB-54DD-9487-CFDCC7923E22}"/>
              </a:ext>
            </a:extLst>
          </p:cNvPr>
          <p:cNvSpPr/>
          <p:nvPr/>
        </p:nvSpPr>
        <p:spPr>
          <a:xfrm>
            <a:off x="640080" y="3922776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A9690"/>
                </a:solidFill>
                <a:latin typeface="Calibri" pitchFamily="34" charset="0"/>
                <a:cs typeface="Calibri" pitchFamily="34" charset="-120"/>
              </a:rPr>
              <a:t>Bruce Fan, Jinen Wang, Wuhao Xia, Yue Yao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Problem Does This Solve?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3840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54864" cy="3291840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10-K filings are 100–300 pages of dense legal prose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sections span multiple chapters beyond Item 1A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takes analysts days per filing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chatbots hallucinate risks not in the document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40080" y="40233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11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distinguish speculative vs. material risks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384048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417320"/>
            <a:ext cx="54864" cy="3291840"/>
          </a:xfrm>
          <a:prstGeom prst="rect">
            <a:avLst/>
          </a:prstGeom>
          <a:solidFill>
            <a:srgbClr val="3A7A4A"/>
          </a:solidFill>
          <a:ln w="12700">
            <a:solidFill>
              <a:srgbClr val="3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5488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011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0" y="2240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portfolios for emerging risks quickly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54880" y="26974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0" y="2926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Audit-ready, cited risk extraction at scale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33832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36118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cross-company risk comparison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488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42976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NLP pipeline on public filings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NON-TRIVIALITY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Not Just Use ChatGPT?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412480" cy="365760"/>
          </a:xfrm>
          <a:prstGeom prst="rect">
            <a:avLst/>
          </a:prstGeom>
          <a:solidFill>
            <a:srgbClr val="1C1F26"/>
          </a:solidFill>
          <a:ln w="12700">
            <a:solidFill>
              <a:srgbClr val="1C1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38988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51760" y="1389888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Gemini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03520" y="1389888"/>
            <a:ext cx="3611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RiskProbe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75564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scope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06040" y="175564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Paste-in snippets only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57800" y="175564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10-K ingested, all sections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212848"/>
            <a:ext cx="8412480" cy="475488"/>
          </a:xfrm>
          <a:prstGeom prst="rect">
            <a:avLst/>
          </a:prstGeom>
          <a:solidFill>
            <a:srgbClr val="EDE9E2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2231136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risk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06040" y="223113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freely invents risks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57800" y="2231136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Refuses if evidence is insufficient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688336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2706624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citation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06040" y="270662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57800" y="2706624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exact chunk_id per risk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163824"/>
            <a:ext cx="8412480" cy="475488"/>
          </a:xfrm>
          <a:prstGeom prst="rect">
            <a:avLst/>
          </a:prstGeom>
          <a:solidFill>
            <a:srgbClr val="EDE9E2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94360" y="3182112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control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606040" y="318211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— one interpretation only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57800" y="3182112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calibrated modes: A / B / C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39312"/>
            <a:ext cx="8412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94360" y="3657600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test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606040" y="36576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257800" y="3657600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test per finding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114800"/>
            <a:ext cx="8412480" cy="475488"/>
          </a:xfrm>
          <a:prstGeom prst="rect">
            <a:avLst/>
          </a:prstGeom>
          <a:solidFill>
            <a:srgbClr val="EDE9E2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94360" y="413308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2606040" y="413308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each run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57800" y="4133088"/>
            <a:ext cx="3474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pipeline + structured JSON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COMPLIANCE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Meeting Every Requirement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977640" cy="1508760"/>
          </a:xfrm>
          <a:prstGeom prst="rect">
            <a:avLst/>
          </a:prstGeom>
          <a:solidFill>
            <a:srgbClr val="F0E8DC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1508760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1481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8B6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8288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Use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1792" y="2121408"/>
            <a:ext cx="3721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for counterfactual validation (3 calls per run)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text-embedding-3-small for semantic chunk embeddings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3977640" cy="1508760"/>
          </a:xfrm>
          <a:prstGeom prst="rect">
            <a:avLst/>
          </a:prstGeom>
          <a:solidFill>
            <a:srgbClr val="EEF6F0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3063240"/>
            <a:ext cx="54864" cy="1508760"/>
          </a:xfrm>
          <a:prstGeom prst="rect">
            <a:avLst/>
          </a:prstGeom>
          <a:solidFill>
            <a:srgbClr val="3A7A4A"/>
          </a:solidFill>
          <a:ln w="12700">
            <a:solidFill>
              <a:srgbClr val="3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" y="31729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3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1792" y="3520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Non-Triviality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" y="3813048"/>
            <a:ext cx="3721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acts as threshold validator, not summarizer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cite chunk_id, pass counterfactual test, refuse if evidence insufficient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3977640" cy="1508760"/>
          </a:xfrm>
          <a:prstGeom prst="rect">
            <a:avLst/>
          </a:prstGeom>
          <a:solidFill>
            <a:srgbClr val="FDF6EC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54864" cy="1508760"/>
          </a:xfrm>
          <a:prstGeom prst="rect">
            <a:avLst/>
          </a:prstGeom>
          <a:solidFill>
            <a:srgbClr val="C49040"/>
          </a:solidFill>
          <a:ln w="12700">
            <a:solidFill>
              <a:srgbClr val="C49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28032" y="148132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49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28032" y="182880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(RAG)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28032" y="2121408"/>
            <a:ext cx="3721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vector store with 12-query retrieval router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 chunked &amp; embedded — not prompt-stuffed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3977640" cy="1508760"/>
          </a:xfrm>
          <a:prstGeom prst="rect">
            <a:avLst/>
          </a:prstGeom>
          <a:solidFill>
            <a:srgbClr val="EDE9E2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3440" y="3063240"/>
            <a:ext cx="54864" cy="1508760"/>
          </a:xfrm>
          <a:prstGeom prst="rect">
            <a:avLst/>
          </a:prstGeom>
          <a:solidFill>
            <a:srgbClr val="1C1F26"/>
          </a:solidFill>
          <a:ln w="12700">
            <a:solidFill>
              <a:srgbClr val="1C1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28032" y="317296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C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828032" y="352044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Completeness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28032" y="3813048"/>
            <a:ext cx="37216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Ticker + Year → SEC EDGAR fetch (no manual steps)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Structured JSON → DataFrame → CSV + Professional Report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C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5-Stage Pipeline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554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554480" cy="64008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30352" y="1481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8B6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30352" y="1920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Acquisition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30352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6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edgar_utils.py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30352" y="2834640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Ticker → CIK → full 10-K HTML → cleaned text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029968" y="2880360"/>
            <a:ext cx="91440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39696" y="1371600"/>
            <a:ext cx="1554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139696" y="1371600"/>
            <a:ext cx="1554480" cy="64008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12848" y="1481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8B6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212848" y="1920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12848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6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rag_engine.py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212848" y="2834640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(~1,000 chars) → embed → ChromaDB with chunk_id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712464" y="2880360"/>
            <a:ext cx="91440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22192" y="1371600"/>
            <a:ext cx="1554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22192" y="1371600"/>
            <a:ext cx="1554480" cy="64008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95344" y="1481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8B6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3895344" y="1920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95344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6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rag_engine.py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895344" y="2834640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queries × 3 risk categories → deduplicated candidate chunks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394960" y="2880360"/>
            <a:ext cx="91440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504688" y="1371600"/>
            <a:ext cx="1554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504688" y="1371600"/>
            <a:ext cx="1554480" cy="64008"/>
          </a:xfrm>
          <a:prstGeom prst="rect">
            <a:avLst/>
          </a:prstGeom>
          <a:solidFill>
            <a:srgbClr val="3A7A4A"/>
          </a:solidFill>
          <a:ln w="12700">
            <a:solidFill>
              <a:srgbClr val="3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577840" y="1481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3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577840" y="1920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 Validation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577840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6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counterfactual_engine.py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577840" y="2834640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evaluates each chunk against Mode A / B / C threshold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077456" y="2880360"/>
            <a:ext cx="91440" cy="36576"/>
          </a:xfrm>
          <a:prstGeom prst="rect">
            <a:avLst/>
          </a:prstGeom>
          <a:solidFill>
            <a:srgbClr val="C4A882"/>
          </a:solidFill>
          <a:ln w="12700">
            <a:solidFill>
              <a:srgbClr val="C4A8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187184" y="1371600"/>
            <a:ext cx="15544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87184" y="1371600"/>
            <a:ext cx="1554480" cy="64008"/>
          </a:xfrm>
          <a:prstGeom prst="rect">
            <a:avLst/>
          </a:prstGeom>
          <a:solidFill>
            <a:srgbClr val="1C1F26"/>
          </a:solidFill>
          <a:ln w="12700">
            <a:solidFill>
              <a:srgbClr val="1C1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60336" y="148132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C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260336" y="19202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 Report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260336" y="25146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B6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comparator.py + app.py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260336" y="2834640"/>
            <a:ext cx="1417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merge → Robust/Fragile labels → DataFrame + prose report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6177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Ticker + Year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760720" y="4617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Structured DataFrame + CSV + Report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C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Counterfactual Validation Layer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412480" cy="594360"/>
          </a:xfrm>
          <a:prstGeom prst="rect">
            <a:avLst/>
          </a:prstGeom>
          <a:solidFill>
            <a:srgbClr val="F0E8DC"/>
          </a:solidFill>
          <a:ln w="9525">
            <a:solidFill>
              <a:srgbClr val="D4C8B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4864" cy="594360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335024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summarizer:</a:t>
            </a:r>
            <a:r>
              <a:rPr lang="en-US" sz="10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'Here is what the document says.'</a:t>
            </a: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A counterfactual validator:</a:t>
            </a:r>
            <a:r>
              <a:rPr lang="en-US" sz="1050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'Does this evidence ACTUALLY meet the risk threshold? If not, I REFUSE to classify it.'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084832"/>
            <a:ext cx="2651760" cy="2743200"/>
          </a:xfrm>
          <a:prstGeom prst="rect">
            <a:avLst/>
          </a:prstGeom>
          <a:solidFill>
            <a:srgbClr val="FDF6EC"/>
          </a:solidFill>
          <a:ln w="9525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54864" cy="2743200"/>
          </a:xfrm>
          <a:prstGeom prst="rect">
            <a:avLst/>
          </a:prstGeom>
          <a:solidFill>
            <a:srgbClr val="C49040"/>
          </a:solidFill>
          <a:ln w="12700">
            <a:solidFill>
              <a:srgbClr val="C49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1792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490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21792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Any hedging language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1792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9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"may", "could", "no assurance"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9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pressure mentions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21792" y="40782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9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forward-looking qualifier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73552" y="2084832"/>
            <a:ext cx="2651760" cy="2743200"/>
          </a:xfrm>
          <a:prstGeom prst="rect">
            <a:avLst/>
          </a:prstGeom>
          <a:solidFill>
            <a:srgbClr val="F0E8DC"/>
          </a:solidFill>
          <a:ln w="9525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73552" y="2084832"/>
            <a:ext cx="54864" cy="2743200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438144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8B6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38144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38144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Explicit risk terminology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38144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"risk", "uncertainty", "exposure"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38144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operational context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38144" y="40782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Disclosed contingencies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89904" y="2084832"/>
            <a:ext cx="2651760" cy="2743200"/>
          </a:xfrm>
          <a:prstGeom prst="rect">
            <a:avLst/>
          </a:prstGeom>
          <a:solidFill>
            <a:srgbClr val="EEF6F0"/>
          </a:solidFill>
          <a:ln w="9525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089904" y="2084832"/>
            <a:ext cx="54864" cy="2743200"/>
          </a:xfrm>
          <a:prstGeom prst="rect">
            <a:avLst/>
          </a:prstGeom>
          <a:solidFill>
            <a:srgbClr val="3A7A4A"/>
          </a:solidFill>
          <a:ln w="12700">
            <a:solidFill>
              <a:srgbClr val="3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254496" y="21488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3A7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 C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54496" y="2542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54496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Threshold: Quantified or imminent risks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54496" y="3200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$ amounts or %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254496" y="363931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legal proceedings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54496" y="4078224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A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— per company disclosure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Robust = all 3 agree   ·   🟡 Moderate = 2 agree   ·   ⚪ Fragile = Aggressive only   ·   LLM returns [ ] if evidence is insufficient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DETAIL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C1F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Pipeline: Retrieval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8404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" cy="1463040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8132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&amp; Embedding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RecursiveCharacterTextSplitter — 1,000 char chunks, 150 overlap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40080" y="20756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chunk_id: TICKER_YEAR_chunk_XXXX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232257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with text-embedding-3-small (1,536 dims)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0080" y="25694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local ChromaDB (in-memory, per session)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429768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1371600"/>
            <a:ext cx="54864" cy="1463040"/>
          </a:xfrm>
          <a:prstGeom prst="rect">
            <a:avLst/>
          </a:prstGeom>
          <a:solidFill>
            <a:srgbClr val="C49040"/>
          </a:solidFill>
          <a:ln w="12700">
            <a:solidFill>
              <a:srgbClr val="C490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14813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12-Query Retrieval Router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84708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9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(4)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72200" y="18470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Liquidity, debt, FX, impairment, cash flow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54880" y="217627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9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(4)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72200" y="21762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chain, cyber, personnel, competition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54880" y="250545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9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(4)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72200" y="25054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Compliance, climate, litigation, sanctions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2999232"/>
            <a:ext cx="8412480" cy="822960"/>
          </a:xfrm>
          <a:prstGeom prst="rect">
            <a:avLst/>
          </a:prstGeom>
          <a:solidFill>
            <a:srgbClr val="EDE9E2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" y="2999232"/>
            <a:ext cx="54864" cy="822960"/>
          </a:xfrm>
          <a:prstGeom prst="rect">
            <a:avLst/>
          </a:prstGeom>
          <a:solidFill>
            <a:srgbClr val="3A7A4A"/>
          </a:solidFill>
          <a:ln w="12700">
            <a:solidFill>
              <a:srgbClr val="3A7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3054096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" y="33101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layer ONLY retrieves candidate evidence chunks based on semantic similarity. It does NOT classify or interpret risks — that is exclusively the LLM's job. This prevents the retrieval system from biasing the validation outcome.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005072"/>
            <a:ext cx="841248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4CFC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7200" y="4005072"/>
            <a:ext cx="54864" cy="914400"/>
          </a:xfrm>
          <a:prstGeom prst="rect">
            <a:avLst/>
          </a:prstGeom>
          <a:solidFill>
            <a:srgbClr val="1C1F26"/>
          </a:solidFill>
          <a:ln w="12700">
            <a:solidFill>
              <a:srgbClr val="1C1F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" y="407822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1F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Output Schema (JSON → DataFrame):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8368" y="435254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64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"risk_summary", "confidence": HIGH|MEDIUM|LOW, "source_chunk_id", "category", "key_evidence", "counterfactual_test", "mode": A|B|C 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475488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3200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400" dirty="0">
                <a:solidFill>
                  <a:srgbClr val="C4A8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DEMONSTRATION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Walkthrough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412480" cy="640080"/>
          </a:xfrm>
          <a:prstGeom prst="rect">
            <a:avLst/>
          </a:prstGeom>
          <a:solidFill>
            <a:srgbClr val="22262E"/>
          </a:solidFill>
          <a:ln w="6350">
            <a:solidFill>
              <a:srgbClr val="2E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6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42646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ticker + year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88720" y="1691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"AAPL" and select fiscal year 2023 in the sidebar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297680" y="1499616"/>
            <a:ext cx="4389120" cy="384048"/>
          </a:xfrm>
          <a:prstGeom prst="rect">
            <a:avLst/>
          </a:prstGeom>
          <a:solidFill>
            <a:srgbClr val="1A1D24"/>
          </a:solidFill>
          <a:ln w="6350">
            <a:solidFill>
              <a:srgbClr val="2E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34840" y="153619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 </a:t>
            </a: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 resolution, filing URL discovery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075688"/>
            <a:ext cx="8412480" cy="640080"/>
          </a:xfrm>
          <a:prstGeom prst="rect">
            <a:avLst/>
          </a:prstGeom>
          <a:solidFill>
            <a:srgbClr val="22262E"/>
          </a:solidFill>
          <a:ln w="6350">
            <a:solidFill>
              <a:srgbClr val="2E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2121408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6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13055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Run Analysis →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188720" y="239572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5-step pipeline execute with live status log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97680" y="2203704"/>
            <a:ext cx="4389120" cy="384048"/>
          </a:xfrm>
          <a:prstGeom prst="rect">
            <a:avLst/>
          </a:prstGeom>
          <a:solidFill>
            <a:srgbClr val="1A1D24"/>
          </a:solidFill>
          <a:ln w="6350">
            <a:solidFill>
              <a:srgbClr val="2E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224028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 </a:t>
            </a: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count, retrieval, mode outputs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2779776"/>
            <a:ext cx="8412480" cy="640080"/>
          </a:xfrm>
          <a:prstGeom prst="rect">
            <a:avLst/>
          </a:prstGeom>
          <a:solidFill>
            <a:srgbClr val="22262E"/>
          </a:solidFill>
          <a:ln w="6350">
            <a:solidFill>
              <a:srgbClr val="2E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94360" y="2825496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6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28346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results table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88720" y="309981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out Robust vs. Fragile risks, check A/B/C checkboxes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297680" y="2907792"/>
            <a:ext cx="4389120" cy="384048"/>
          </a:xfrm>
          <a:prstGeom prst="rect">
            <a:avLst/>
          </a:prstGeom>
          <a:solidFill>
            <a:srgbClr val="1A1D24"/>
          </a:solidFill>
          <a:ln w="6350">
            <a:solidFill>
              <a:srgbClr val="2E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434840" y="2944368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 </a:t>
            </a: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 merging, robustness classification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3483864"/>
            <a:ext cx="8412480" cy="640080"/>
          </a:xfrm>
          <a:prstGeom prst="rect">
            <a:avLst/>
          </a:prstGeom>
          <a:solidFill>
            <a:srgbClr val="22262E"/>
          </a:solidFill>
          <a:ln w="6350">
            <a:solidFill>
              <a:srgbClr val="2E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52958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6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88720" y="35387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Mode C tab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88720" y="380390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conservative risks — quantified, material, cited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97680" y="3611880"/>
            <a:ext cx="4389120" cy="384048"/>
          </a:xfrm>
          <a:prstGeom prst="rect">
            <a:avLst/>
          </a:prstGeom>
          <a:solidFill>
            <a:srgbClr val="1A1D24"/>
          </a:solidFill>
          <a:ln w="6350">
            <a:solidFill>
              <a:srgbClr val="2E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34840" y="3648456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 </a:t>
            </a: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refusal when evidence insufficient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57200" y="4187952"/>
            <a:ext cx="8412480" cy="640080"/>
          </a:xfrm>
          <a:prstGeom prst="rect">
            <a:avLst/>
          </a:prstGeom>
          <a:solidFill>
            <a:srgbClr val="22262E"/>
          </a:solidFill>
          <a:ln w="6350">
            <a:solidFill>
              <a:srgbClr val="2E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94360" y="4233672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8B64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188720" y="42428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Generate Report →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88720" y="45079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GPT-4o-mini write the analyst report in real time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297680" y="4315968"/>
            <a:ext cx="4389120" cy="384048"/>
          </a:xfrm>
          <a:prstGeom prst="rect">
            <a:avLst/>
          </a:prstGeom>
          <a:solidFill>
            <a:srgbClr val="1A1D24"/>
          </a:solidFill>
          <a:ln w="6350">
            <a:solidFill>
              <a:srgbClr val="2E3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434840" y="43525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 </a:t>
            </a:r>
            <a:r>
              <a:rPr lang="en-US" sz="95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input → structured output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1F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743200" cy="45720"/>
          </a:xfrm>
          <a:prstGeom prst="rect">
            <a:avLst/>
          </a:prstGeom>
          <a:solidFill>
            <a:srgbClr val="8B6440"/>
          </a:solidFill>
          <a:ln w="12700">
            <a:solidFill>
              <a:srgbClr val="8B64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28600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 </a:t>
            </a:r>
            <a:r>
              <a:rPr lang="en-US" sz="12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10-K ingestion — not just Item 1A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2670048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 </a:t>
            </a:r>
            <a:r>
              <a:rPr lang="en-US" sz="12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retrieves evidence; LLM validates threshold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054096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 </a:t>
            </a:r>
            <a:r>
              <a:rPr lang="en-US" sz="12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calibrated modes surface Robust vs. Fragile risks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4381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 </a:t>
            </a:r>
            <a:r>
              <a:rPr lang="en-US" sz="12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with source citations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82219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6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 </a:t>
            </a:r>
            <a:r>
              <a:rPr lang="en-US" sz="1200" dirty="0">
                <a:solidFill>
                  <a:srgbClr val="9A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refusal prevents hallucination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828800"/>
            <a:ext cx="3383280" cy="2651760"/>
          </a:xfrm>
          <a:prstGeom prst="rect">
            <a:avLst/>
          </a:prstGeom>
          <a:solidFill>
            <a:srgbClr val="141720"/>
          </a:solidFill>
          <a:ln w="6350">
            <a:solidFill>
              <a:srgbClr val="2A2D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196596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4A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github.com/carlboy2002/</a:t>
            </a:r>
            <a:endParaRPr lang="en-US" sz="9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50" dirty="0">
                <a:solidFill>
                  <a:srgbClr val="C4A8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counterfactual-risk-assistant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23560" y="2633472"/>
            <a:ext cx="3017520" cy="36576"/>
          </a:xfrm>
          <a:prstGeom prst="rect">
            <a:avLst/>
          </a:prstGeom>
          <a:solidFill>
            <a:srgbClr val="2A2D36"/>
          </a:solidFill>
          <a:ln w="12700">
            <a:solidFill>
              <a:srgbClr val="2A2D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23560" y="276148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LangChain · ChromaDB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23560" y="312724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GPT-4o-mini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623560" y="34930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text-embedding-3-small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23560" y="38587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5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 EDGAR API · Streamlit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1720"/>
          </a:solidFill>
          <a:ln w="12700">
            <a:solidFill>
              <a:srgbClr val="1417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90118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5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RiskProbe · Columbia SIPA · Building AI Tools with LLMs · Spring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968</Words>
  <Application>Microsoft Office PowerPoint</Application>
  <PresentationFormat>On-screen Show (16:9)</PresentationFormat>
  <Paragraphs>185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RiskProbe — 10-K Counterfactual Validator</dc:title>
  <dc:subject>PptxGenJS Presentation</dc:subject>
  <dc:creator>PptxGenJS</dc:creator>
  <cp:lastModifiedBy>Wuhao Xia</cp:lastModifiedBy>
  <cp:revision>2</cp:revision>
  <dcterms:created xsi:type="dcterms:W3CDTF">2026-03-04T01:53:39Z</dcterms:created>
  <dcterms:modified xsi:type="dcterms:W3CDTF">2026-03-04T02:00:33Z</dcterms:modified>
</cp:coreProperties>
</file>